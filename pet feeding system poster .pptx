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7004050" cy="9283700"/>
  <p:defaultTextStyle>
    <a:defPPr>
      <a:defRPr lang="en-US"/>
    </a:defPPr>
    <a:lvl1pPr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EAEAEA"/>
    <a:srgbClr val="FFFFFF"/>
    <a:srgbClr val="006699"/>
    <a:srgbClr val="CCECFF"/>
    <a:srgbClr val="F8F8F8"/>
    <a:srgbClr val="C0C0C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68" autoAdjust="0"/>
  </p:normalViewPr>
  <p:slideViewPr>
    <p:cSldViewPr>
      <p:cViewPr varScale="1">
        <p:scale>
          <a:sx n="12" d="100"/>
          <a:sy n="12" d="100"/>
        </p:scale>
        <p:origin x="1548" y="100"/>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300" cy="465138"/>
          </a:xfrm>
          <a:prstGeom prst="rect">
            <a:avLst/>
          </a:prstGeom>
        </p:spPr>
        <p:txBody>
          <a:bodyPr vert="horz" lIns="91440" tIns="45720" rIns="91440" bIns="45720" rtlCol="0"/>
          <a:lstStyle>
            <a:lvl1pPr algn="l">
              <a:defRPr sz="1200"/>
            </a:lvl1pPr>
          </a:lstStyle>
          <a:p>
            <a:endParaRPr lang="fr-MA"/>
          </a:p>
        </p:txBody>
      </p:sp>
      <p:sp>
        <p:nvSpPr>
          <p:cNvPr id="3" name="Date Placeholder 2"/>
          <p:cNvSpPr>
            <a:spLocks noGrp="1"/>
          </p:cNvSpPr>
          <p:nvPr>
            <p:ph type="dt" idx="1"/>
          </p:nvPr>
        </p:nvSpPr>
        <p:spPr>
          <a:xfrm>
            <a:off x="3967163" y="0"/>
            <a:ext cx="3035300" cy="465138"/>
          </a:xfrm>
          <a:prstGeom prst="rect">
            <a:avLst/>
          </a:prstGeom>
        </p:spPr>
        <p:txBody>
          <a:bodyPr vert="horz" lIns="91440" tIns="45720" rIns="91440" bIns="45720" rtlCol="0"/>
          <a:lstStyle>
            <a:lvl1pPr algn="r">
              <a:defRPr sz="1200"/>
            </a:lvl1pPr>
          </a:lstStyle>
          <a:p>
            <a:fld id="{20142416-1AF1-4F84-8CFA-B1FADBCE2EBA}" type="datetimeFigureOut">
              <a:rPr lang="fr-MA" smtClean="0"/>
              <a:t>17/12/2025</a:t>
            </a:fld>
            <a:endParaRPr lang="fr-MA"/>
          </a:p>
        </p:txBody>
      </p:sp>
      <p:sp>
        <p:nvSpPr>
          <p:cNvPr id="4" name="Slide Image Placeholder 3"/>
          <p:cNvSpPr>
            <a:spLocks noGrp="1" noRot="1" noChangeAspect="1"/>
          </p:cNvSpPr>
          <p:nvPr>
            <p:ph type="sldImg" idx="2"/>
          </p:nvPr>
        </p:nvSpPr>
        <p:spPr>
          <a:xfrm>
            <a:off x="1412875" y="1160463"/>
            <a:ext cx="4178300" cy="3133725"/>
          </a:xfrm>
          <a:prstGeom prst="rect">
            <a:avLst/>
          </a:prstGeom>
          <a:noFill/>
          <a:ln w="12700">
            <a:solidFill>
              <a:prstClr val="black"/>
            </a:solidFill>
          </a:ln>
        </p:spPr>
        <p:txBody>
          <a:bodyPr vert="horz" lIns="91440" tIns="45720" rIns="91440" bIns="45720" rtlCol="0" anchor="ctr"/>
          <a:lstStyle/>
          <a:p>
            <a:endParaRPr lang="fr-MA"/>
          </a:p>
        </p:txBody>
      </p:sp>
      <p:sp>
        <p:nvSpPr>
          <p:cNvPr id="5" name="Notes Placeholder 4"/>
          <p:cNvSpPr>
            <a:spLocks noGrp="1"/>
          </p:cNvSpPr>
          <p:nvPr>
            <p:ph type="body" sz="quarter" idx="3"/>
          </p:nvPr>
        </p:nvSpPr>
        <p:spPr>
          <a:xfrm>
            <a:off x="700088" y="4467225"/>
            <a:ext cx="5603875" cy="365601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MA"/>
          </a:p>
        </p:txBody>
      </p:sp>
      <p:sp>
        <p:nvSpPr>
          <p:cNvPr id="6" name="Footer Placeholder 5"/>
          <p:cNvSpPr>
            <a:spLocks noGrp="1"/>
          </p:cNvSpPr>
          <p:nvPr>
            <p:ph type="ftr" sz="quarter" idx="4"/>
          </p:nvPr>
        </p:nvSpPr>
        <p:spPr>
          <a:xfrm>
            <a:off x="0" y="8818563"/>
            <a:ext cx="3035300" cy="465137"/>
          </a:xfrm>
          <a:prstGeom prst="rect">
            <a:avLst/>
          </a:prstGeom>
        </p:spPr>
        <p:txBody>
          <a:bodyPr vert="horz" lIns="91440" tIns="45720" rIns="91440" bIns="45720" rtlCol="0" anchor="b"/>
          <a:lstStyle>
            <a:lvl1pPr algn="l">
              <a:defRPr sz="1200"/>
            </a:lvl1pPr>
          </a:lstStyle>
          <a:p>
            <a:endParaRPr lang="fr-MA"/>
          </a:p>
        </p:txBody>
      </p:sp>
      <p:sp>
        <p:nvSpPr>
          <p:cNvPr id="7" name="Slide Number Placeholder 6"/>
          <p:cNvSpPr>
            <a:spLocks noGrp="1"/>
          </p:cNvSpPr>
          <p:nvPr>
            <p:ph type="sldNum" sz="quarter" idx="5"/>
          </p:nvPr>
        </p:nvSpPr>
        <p:spPr>
          <a:xfrm>
            <a:off x="3967163" y="8818563"/>
            <a:ext cx="3035300" cy="465137"/>
          </a:xfrm>
          <a:prstGeom prst="rect">
            <a:avLst/>
          </a:prstGeom>
        </p:spPr>
        <p:txBody>
          <a:bodyPr vert="horz" lIns="91440" tIns="45720" rIns="91440" bIns="45720" rtlCol="0" anchor="b"/>
          <a:lstStyle>
            <a:lvl1pPr algn="r">
              <a:defRPr sz="1200"/>
            </a:lvl1pPr>
          </a:lstStyle>
          <a:p>
            <a:fld id="{BB2EBDF1-2E70-4BF9-811F-77DFA275EBF2}" type="slidenum">
              <a:rPr lang="fr-MA" smtClean="0"/>
              <a:t>‹#›</a:t>
            </a:fld>
            <a:endParaRPr lang="fr-MA"/>
          </a:p>
        </p:txBody>
      </p:sp>
    </p:spTree>
    <p:extLst>
      <p:ext uri="{BB962C8B-B14F-4D97-AF65-F5344CB8AC3E}">
        <p14:creationId xmlns:p14="http://schemas.microsoft.com/office/powerpoint/2010/main" val="389788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MA" dirty="0"/>
          </a:p>
        </p:txBody>
      </p:sp>
      <p:sp>
        <p:nvSpPr>
          <p:cNvPr id="4" name="Slide Number Placeholder 3"/>
          <p:cNvSpPr>
            <a:spLocks noGrp="1"/>
          </p:cNvSpPr>
          <p:nvPr>
            <p:ph type="sldNum" sz="quarter" idx="5"/>
          </p:nvPr>
        </p:nvSpPr>
        <p:spPr/>
        <p:txBody>
          <a:bodyPr/>
          <a:lstStyle/>
          <a:p>
            <a:fld id="{BB2EBDF1-2E70-4BF9-811F-77DFA275EBF2}" type="slidenum">
              <a:rPr lang="fr-MA" smtClean="0"/>
              <a:t>1</a:t>
            </a:fld>
            <a:endParaRPr lang="fr-MA"/>
          </a:p>
        </p:txBody>
      </p:sp>
    </p:spTree>
    <p:extLst>
      <p:ext uri="{BB962C8B-B14F-4D97-AF65-F5344CB8AC3E}">
        <p14:creationId xmlns:p14="http://schemas.microsoft.com/office/powerpoint/2010/main" val="3378390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a:prstGeom prst="rect">
            <a:avLst/>
          </a:prstGeom>
        </p:spPr>
        <p:txBody>
          <a:bodyPr vert="horz"/>
          <a:lstStyle/>
          <a:p>
            <a:r>
              <a:rPr lang="en-US"/>
              <a:t>Click to edit Master title style</a:t>
            </a:r>
          </a:p>
        </p:txBody>
      </p:sp>
      <p:sp>
        <p:nvSpPr>
          <p:cNvPr id="3" name="Subtitle 2"/>
          <p:cNvSpPr>
            <a:spLocks noGrp="1"/>
          </p:cNvSpPr>
          <p:nvPr>
            <p:ph type="subTitle" idx="1"/>
          </p:nvPr>
        </p:nvSpPr>
        <p:spPr>
          <a:xfrm>
            <a:off x="6583363" y="18653125"/>
            <a:ext cx="30724475" cy="8413750"/>
          </a:xfrm>
          <a:prstGeom prst="rect">
            <a:avLst/>
          </a:prstGeom>
        </p:spPr>
        <p:txBody>
          <a:bodyPr vert="horz"/>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627514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vert="horz"/>
          <a:lstStyle/>
          <a:p>
            <a:r>
              <a:rPr lang="en-US"/>
              <a:t>Click to edit Master title style</a:t>
            </a:r>
          </a:p>
        </p:txBody>
      </p:sp>
      <p:sp>
        <p:nvSpPr>
          <p:cNvPr id="3" name="Content Placeholder 2"/>
          <p:cNvSpPr>
            <a:spLocks noGrp="1"/>
          </p:cNvSpPr>
          <p:nvPr>
            <p:ph idx="1"/>
          </p:nvPr>
        </p:nvSpPr>
        <p:spPr>
          <a:xfrm>
            <a:off x="2193925" y="7680325"/>
            <a:ext cx="39503350" cy="21724938"/>
          </a:xfrm>
          <a:prstGeom prst="rect">
            <a:avLst/>
          </a:prstGeo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0220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a:prstGeom prst="rect">
            <a:avLst/>
          </a:prstGeom>
        </p:spPr>
        <p:txBody>
          <a:bodyPr vert="horz"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a:prstGeom prst="rect">
            <a:avLst/>
          </a:prstGeom>
        </p:spPr>
        <p:txBody>
          <a:bodyPr vert="horz"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50911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vert="horz"/>
          <a:lstStyle/>
          <a:p>
            <a:r>
              <a:rPr lang="en-US"/>
              <a:t>Click to edit Master title style</a:t>
            </a:r>
          </a:p>
        </p:txBody>
      </p:sp>
      <p:sp>
        <p:nvSpPr>
          <p:cNvPr id="3" name="Content Placeholder 2"/>
          <p:cNvSpPr>
            <a:spLocks noGrp="1"/>
          </p:cNvSpPr>
          <p:nvPr>
            <p:ph sz="half" idx="1"/>
          </p:nvPr>
        </p:nvSpPr>
        <p:spPr>
          <a:xfrm>
            <a:off x="2193925" y="7680325"/>
            <a:ext cx="19675475" cy="21724938"/>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4938"/>
          </a:xfrm>
          <a:prstGeom prst="rect">
            <a:avLst/>
          </a:prstGeom>
        </p:spPr>
        <p:txBody>
          <a:bodyPr vert="horz"/>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4732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vert="horz"/>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a:prstGeom prst="rect">
            <a:avLst/>
          </a:prstGeom>
        </p:spPr>
        <p:txBody>
          <a:bodyPr vert="horz"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a:prstGeom prst="rect">
            <a:avLst/>
          </a:prstGeom>
        </p:spPr>
        <p:txBody>
          <a:bodyPr vert="horz"/>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353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vert="horz"/>
          <a:lstStyle/>
          <a:p>
            <a:r>
              <a:rPr lang="en-US"/>
              <a:t>Click to edit Master title style</a:t>
            </a:r>
          </a:p>
        </p:txBody>
      </p:sp>
    </p:spTree>
    <p:extLst>
      <p:ext uri="{BB962C8B-B14F-4D97-AF65-F5344CB8AC3E}">
        <p14:creationId xmlns:p14="http://schemas.microsoft.com/office/powerpoint/2010/main" val="642790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735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a:prstGeom prst="rect">
            <a:avLst/>
          </a:prstGeom>
        </p:spPr>
        <p:txBody>
          <a:bodyPr vert="horz"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a:prstGeom prst="rect">
            <a:avLst/>
          </a:prstGeom>
        </p:spPr>
        <p:txBody>
          <a:bodyPr vert="horz"/>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682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a:prstGeom prst="rect">
            <a:avLst/>
          </a:prstGeom>
        </p:spPr>
        <p:txBody>
          <a:bodyPr vert="horz"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a:prstGeom prst="rect">
            <a:avLst/>
          </a:prstGeom>
        </p:spPr>
        <p:txBody>
          <a:bodyPr vert="horz"/>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a:prstGeom prst="rect">
            <a:avLst/>
          </a:prstGeom>
        </p:spPr>
        <p:txBody>
          <a:bodyPr vert="horz"/>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8211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7625"/>
            <a:ext cx="39503350" cy="5486400"/>
          </a:xfrm>
          <a:prstGeom prst="rect">
            <a:avLst/>
          </a:prstGeom>
        </p:spPr>
        <p:txBody>
          <a:bodyPr vert="horz"/>
          <a:lstStyle/>
          <a:p>
            <a:r>
              <a:rPr lang="en-US"/>
              <a:t>Click to edit Master title style</a:t>
            </a:r>
          </a:p>
        </p:txBody>
      </p:sp>
      <p:sp>
        <p:nvSpPr>
          <p:cNvPr id="3" name="Vertical Text Placeholder 2"/>
          <p:cNvSpPr>
            <a:spLocks noGrp="1"/>
          </p:cNvSpPr>
          <p:nvPr>
            <p:ph type="body" orient="vert" idx="1"/>
          </p:nvPr>
        </p:nvSpPr>
        <p:spPr>
          <a:xfrm>
            <a:off x="2193925" y="7680325"/>
            <a:ext cx="39503350" cy="217249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2639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76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5" y="1317625"/>
            <a:ext cx="29475113" cy="280876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643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5483225"/>
            <a:ext cx="9140825" cy="27424063"/>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0" tIns="228600" rIns="457200" bIns="457200"/>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endParaRPr lang="tr-TR" altLang="tr-TR" sz="4800">
              <a:latin typeface="Impact" panose="020B0806030902050204" pitchFamily="34" charset="0"/>
            </a:endParaRPr>
          </a:p>
        </p:txBody>
      </p:sp>
      <p:sp>
        <p:nvSpPr>
          <p:cNvPr id="1027" name="Rectangle 8"/>
          <p:cNvSpPr>
            <a:spLocks noChangeArrowheads="1"/>
          </p:cNvSpPr>
          <p:nvPr userDrawn="1"/>
        </p:nvSpPr>
        <p:spPr bwMode="auto">
          <a:xfrm>
            <a:off x="9140825" y="0"/>
            <a:ext cx="34736088" cy="5484813"/>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0" tIns="457200" rIns="457200" bIns="4572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tr-TR" altLang="tr-TR"/>
          </a:p>
        </p:txBody>
      </p:sp>
      <p:sp>
        <p:nvSpPr>
          <p:cNvPr id="1028" name="Rectangle 9"/>
          <p:cNvSpPr>
            <a:spLocks noChangeArrowheads="1"/>
          </p:cNvSpPr>
          <p:nvPr userDrawn="1"/>
        </p:nvSpPr>
        <p:spPr bwMode="auto">
          <a:xfrm>
            <a:off x="9140825" y="5483225"/>
            <a:ext cx="34736088" cy="27424063"/>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0" tIns="457200" rIns="457200" bIns="4572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tr-TR" altLang="tr-TR"/>
          </a:p>
        </p:txBody>
      </p:sp>
      <p:sp>
        <p:nvSpPr>
          <p:cNvPr id="1029" name="Line 11"/>
          <p:cNvSpPr>
            <a:spLocks noChangeShapeType="1"/>
          </p:cNvSpPr>
          <p:nvPr userDrawn="1"/>
        </p:nvSpPr>
        <p:spPr bwMode="auto">
          <a:xfrm>
            <a:off x="9144000" y="0"/>
            <a:ext cx="0" cy="3291840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030" name="Line 12"/>
          <p:cNvSpPr>
            <a:spLocks noChangeShapeType="1"/>
          </p:cNvSpPr>
          <p:nvPr userDrawn="1"/>
        </p:nvSpPr>
        <p:spPr bwMode="auto">
          <a:xfrm>
            <a:off x="0" y="5486400"/>
            <a:ext cx="43876913"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tr-TR"/>
          </a:p>
        </p:txBody>
      </p:sp>
      <p:sp>
        <p:nvSpPr>
          <p:cNvPr id="1038" name="Text Box 14"/>
          <p:cNvSpPr txBox="1">
            <a:spLocks noChangeArrowheads="1"/>
          </p:cNvSpPr>
          <p:nvPr userDrawn="1"/>
        </p:nvSpPr>
        <p:spPr bwMode="auto">
          <a:xfrm>
            <a:off x="1408113" y="32200850"/>
            <a:ext cx="6324600" cy="336550"/>
          </a:xfrm>
          <a:prstGeom prst="rect">
            <a:avLst/>
          </a:prstGeom>
          <a:noFill/>
          <a:ln>
            <a:noFill/>
          </a:ln>
          <a:effectLst/>
          <a:extLst>
            <a:ext uri="{909E8E84-426E-40dd-AFC4-6F175D3DCCD1}"/>
            <a:ext uri="{91240B29-F687-4f45-9708-019B960494DF}"/>
            <a:ext uri="{AF507438-7753-43e0-B8FC-AC1667EBCBE1}"/>
          </a:extLst>
        </p:spPr>
        <p:txBody>
          <a:bodyPr>
            <a:spAutoFit/>
          </a:bodyPr>
          <a:lstStyle>
            <a:lvl1pPr defTabSz="4022725" eaLnBrk="0" hangingPunct="0">
              <a:defRPr sz="3200">
                <a:solidFill>
                  <a:schemeClr val="tx1"/>
                </a:solidFill>
                <a:latin typeface="Arial" panose="020B0604020202020204" pitchFamily="34" charset="0"/>
                <a:ea typeface="ＭＳ Ｐゴシック" panose="020B0600070205080204" pitchFamily="34" charset="-128"/>
              </a:defRPr>
            </a:lvl1pPr>
            <a:lvl2pPr marL="742950" indent="-285750" defTabSz="4022725" eaLnBrk="0" hangingPunct="0">
              <a:defRPr sz="3200">
                <a:solidFill>
                  <a:schemeClr val="tx1"/>
                </a:solidFill>
                <a:latin typeface="Arial" panose="020B0604020202020204" pitchFamily="34" charset="0"/>
                <a:ea typeface="ＭＳ Ｐゴシック" panose="020B0600070205080204" pitchFamily="34" charset="-128"/>
              </a:defRPr>
            </a:lvl2pPr>
            <a:lvl3pPr marL="1143000" indent="-228600" defTabSz="4022725" eaLnBrk="0" hangingPunct="0">
              <a:defRPr sz="3200">
                <a:solidFill>
                  <a:schemeClr val="tx1"/>
                </a:solidFill>
                <a:latin typeface="Arial" panose="020B0604020202020204" pitchFamily="34" charset="0"/>
                <a:ea typeface="ＭＳ Ｐゴシック" panose="020B0600070205080204" pitchFamily="34" charset="-128"/>
              </a:defRPr>
            </a:lvl3pPr>
            <a:lvl4pPr marL="1600200" indent="-228600" defTabSz="4022725" eaLnBrk="0" hangingPunct="0">
              <a:defRPr sz="3200">
                <a:solidFill>
                  <a:schemeClr val="tx1"/>
                </a:solidFill>
                <a:latin typeface="Arial" panose="020B0604020202020204" pitchFamily="34" charset="0"/>
                <a:ea typeface="ＭＳ Ｐゴシック" panose="020B0600070205080204" pitchFamily="34" charset="-128"/>
              </a:defRPr>
            </a:lvl4pPr>
            <a:lvl5pPr marL="2057400" indent="-228600" defTabSz="4022725" eaLnBrk="0" hangingPunct="0">
              <a:defRPr sz="3200">
                <a:solidFill>
                  <a:schemeClr val="tx1"/>
                </a:solidFill>
                <a:latin typeface="Arial" panose="020B0604020202020204" pitchFamily="34" charset="0"/>
                <a:ea typeface="ＭＳ Ｐゴシック" panose="020B0600070205080204" pitchFamily="34" charset="-128"/>
              </a:defRPr>
            </a:lvl5pPr>
            <a:lvl6pPr marL="2514600" indent="-228600" defTabSz="4022725"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022725"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022725"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022725"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1600">
                <a:solidFill>
                  <a:srgbClr val="808080"/>
                </a:solidFill>
              </a:rPr>
              <a:t>Poster Design &amp; Printing by Genigraphics</a:t>
            </a:r>
            <a:r>
              <a:rPr lang="en-US" altLang="en-US" sz="1600" baseline="30000">
                <a:solidFill>
                  <a:srgbClr val="808080"/>
                </a:solidFill>
                <a:cs typeface="Arial" panose="020B0604020202020204" pitchFamily="34" charset="0"/>
              </a:rPr>
              <a:t>®</a:t>
            </a:r>
            <a:r>
              <a:rPr lang="en-US" altLang="en-US" sz="1600">
                <a:solidFill>
                  <a:srgbClr val="808080"/>
                </a:solidFill>
                <a:cs typeface="Arial" panose="020B0604020202020204" pitchFamily="34" charset="0"/>
              </a:rPr>
              <a:t> - 800.790.4001</a:t>
            </a:r>
            <a:r>
              <a:rPr lang="en-US" altLang="en-US" sz="1600">
                <a:solidFill>
                  <a:srgbClr val="808080"/>
                </a:solidFill>
              </a:rPr>
              <a:t>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438" rtl="0" eaLnBrk="0" fontAlgn="base" hangingPunct="0">
        <a:spcBef>
          <a:spcPct val="0"/>
        </a:spcBef>
        <a:spcAft>
          <a:spcPct val="0"/>
        </a:spcAft>
        <a:defRPr sz="21100">
          <a:solidFill>
            <a:schemeClr val="tx2"/>
          </a:solidFill>
          <a:latin typeface="+mj-lt"/>
          <a:ea typeface="+mj-ea"/>
          <a:cs typeface="+mj-cs"/>
        </a:defRPr>
      </a:lvl1pPr>
      <a:lvl2pPr algn="ctr" defTabSz="4389438" rtl="0" eaLnBrk="0" fontAlgn="base" hangingPunct="0">
        <a:spcBef>
          <a:spcPct val="0"/>
        </a:spcBef>
        <a:spcAft>
          <a:spcPct val="0"/>
        </a:spcAft>
        <a:defRPr sz="21100">
          <a:solidFill>
            <a:schemeClr val="tx2"/>
          </a:solidFill>
          <a:latin typeface="Arial" charset="0"/>
          <a:ea typeface="ＭＳ Ｐゴシック" charset="0"/>
        </a:defRPr>
      </a:lvl2pPr>
      <a:lvl3pPr algn="ctr" defTabSz="4389438" rtl="0" eaLnBrk="0" fontAlgn="base" hangingPunct="0">
        <a:spcBef>
          <a:spcPct val="0"/>
        </a:spcBef>
        <a:spcAft>
          <a:spcPct val="0"/>
        </a:spcAft>
        <a:defRPr sz="21100">
          <a:solidFill>
            <a:schemeClr val="tx2"/>
          </a:solidFill>
          <a:latin typeface="Arial" charset="0"/>
          <a:ea typeface="ＭＳ Ｐゴシック" charset="0"/>
        </a:defRPr>
      </a:lvl3pPr>
      <a:lvl4pPr algn="ctr" defTabSz="4389438" rtl="0" eaLnBrk="0" fontAlgn="base" hangingPunct="0">
        <a:spcBef>
          <a:spcPct val="0"/>
        </a:spcBef>
        <a:spcAft>
          <a:spcPct val="0"/>
        </a:spcAft>
        <a:defRPr sz="21100">
          <a:solidFill>
            <a:schemeClr val="tx2"/>
          </a:solidFill>
          <a:latin typeface="Arial" charset="0"/>
          <a:ea typeface="ＭＳ Ｐゴシック" charset="0"/>
        </a:defRPr>
      </a:lvl4pPr>
      <a:lvl5pPr algn="ctr" defTabSz="4389438" rtl="0" eaLnBrk="0" fontAlgn="base" hangingPunct="0">
        <a:spcBef>
          <a:spcPct val="0"/>
        </a:spcBef>
        <a:spcAft>
          <a:spcPct val="0"/>
        </a:spcAft>
        <a:defRPr sz="21100">
          <a:solidFill>
            <a:schemeClr val="tx2"/>
          </a:solidFill>
          <a:latin typeface="Arial" charset="0"/>
          <a:ea typeface="ＭＳ Ｐゴシック" charset="0"/>
        </a:defRPr>
      </a:lvl5pPr>
      <a:lvl6pPr marL="457200" algn="ctr" defTabSz="4389438" rtl="0" fontAlgn="base">
        <a:spcBef>
          <a:spcPct val="0"/>
        </a:spcBef>
        <a:spcAft>
          <a:spcPct val="0"/>
        </a:spcAft>
        <a:defRPr sz="21100">
          <a:solidFill>
            <a:schemeClr val="tx2"/>
          </a:solidFill>
          <a:latin typeface="Arial" charset="0"/>
          <a:ea typeface="ＭＳ Ｐゴシック" charset="0"/>
        </a:defRPr>
      </a:lvl6pPr>
      <a:lvl7pPr marL="914400" algn="ctr" defTabSz="4389438" rtl="0" fontAlgn="base">
        <a:spcBef>
          <a:spcPct val="0"/>
        </a:spcBef>
        <a:spcAft>
          <a:spcPct val="0"/>
        </a:spcAft>
        <a:defRPr sz="21100">
          <a:solidFill>
            <a:schemeClr val="tx2"/>
          </a:solidFill>
          <a:latin typeface="Arial" charset="0"/>
          <a:ea typeface="ＭＳ Ｐゴシック" charset="0"/>
        </a:defRPr>
      </a:lvl7pPr>
      <a:lvl8pPr marL="1371600" algn="ctr" defTabSz="4389438" rtl="0" fontAlgn="base">
        <a:spcBef>
          <a:spcPct val="0"/>
        </a:spcBef>
        <a:spcAft>
          <a:spcPct val="0"/>
        </a:spcAft>
        <a:defRPr sz="21100">
          <a:solidFill>
            <a:schemeClr val="tx2"/>
          </a:solidFill>
          <a:latin typeface="Arial" charset="0"/>
          <a:ea typeface="ＭＳ Ｐゴシック" charset="0"/>
        </a:defRPr>
      </a:lvl8pPr>
      <a:lvl9pPr marL="1828800" algn="ctr" defTabSz="4389438" rtl="0" fontAlgn="base">
        <a:spcBef>
          <a:spcPct val="0"/>
        </a:spcBef>
        <a:spcAft>
          <a:spcPct val="0"/>
        </a:spcAft>
        <a:defRPr sz="21100">
          <a:solidFill>
            <a:schemeClr val="tx2"/>
          </a:solidFill>
          <a:latin typeface="Arial" charset="0"/>
          <a:ea typeface="ＭＳ Ｐゴシック" charset="0"/>
        </a:defRPr>
      </a:lvl9pPr>
    </p:titleStyle>
    <p:bodyStyle>
      <a:lvl1pPr marL="1646238" indent="-1646238" algn="l" defTabSz="4389438" rtl="0" eaLnBrk="0" fontAlgn="base" hangingPunct="0">
        <a:spcBef>
          <a:spcPct val="20000"/>
        </a:spcBef>
        <a:spcAft>
          <a:spcPct val="0"/>
        </a:spcAft>
        <a:buChar char="•"/>
        <a:defRPr sz="15400">
          <a:solidFill>
            <a:schemeClr val="tx1"/>
          </a:solidFill>
          <a:latin typeface="+mn-lt"/>
          <a:ea typeface="+mn-ea"/>
          <a:cs typeface="+mn-cs"/>
        </a:defRPr>
      </a:lvl1pPr>
      <a:lvl2pPr marL="3565525" indent="-1371600" algn="l" defTabSz="4389438" rtl="0" eaLnBrk="0" fontAlgn="base" hangingPunct="0">
        <a:spcBef>
          <a:spcPct val="20000"/>
        </a:spcBef>
        <a:spcAft>
          <a:spcPct val="0"/>
        </a:spcAft>
        <a:buChar char="–"/>
        <a:defRPr sz="13400">
          <a:solidFill>
            <a:schemeClr val="tx1"/>
          </a:solidFill>
          <a:latin typeface="+mn-lt"/>
          <a:ea typeface="+mn-ea"/>
        </a:defRPr>
      </a:lvl2pPr>
      <a:lvl3pPr marL="5486400" indent="-1096963" algn="l" defTabSz="4389438" rtl="0" eaLnBrk="0" fontAlgn="base" hangingPunct="0">
        <a:spcBef>
          <a:spcPct val="20000"/>
        </a:spcBef>
        <a:spcAft>
          <a:spcPct val="0"/>
        </a:spcAft>
        <a:buChar char="•"/>
        <a:defRPr sz="11500">
          <a:solidFill>
            <a:schemeClr val="tx1"/>
          </a:solidFill>
          <a:latin typeface="+mn-lt"/>
          <a:ea typeface="+mn-ea"/>
        </a:defRPr>
      </a:lvl3pPr>
      <a:lvl4pPr marL="7680325" indent="-1096963" algn="l" defTabSz="4389438" rtl="0" eaLnBrk="0" fontAlgn="base" hangingPunct="0">
        <a:spcBef>
          <a:spcPct val="20000"/>
        </a:spcBef>
        <a:spcAft>
          <a:spcPct val="0"/>
        </a:spcAft>
        <a:buChar char="–"/>
        <a:defRPr sz="9600">
          <a:solidFill>
            <a:schemeClr val="tx1"/>
          </a:solidFill>
          <a:latin typeface="+mn-lt"/>
          <a:ea typeface="+mn-ea"/>
        </a:defRPr>
      </a:lvl4pPr>
      <a:lvl5pPr marL="9875838" indent="-1096963" algn="l" defTabSz="4389438" rtl="0" eaLnBrk="0" fontAlgn="base" hangingPunct="0">
        <a:spcBef>
          <a:spcPct val="20000"/>
        </a:spcBef>
        <a:spcAft>
          <a:spcPct val="0"/>
        </a:spcAft>
        <a:buChar char="»"/>
        <a:defRPr sz="9600">
          <a:solidFill>
            <a:schemeClr val="tx1"/>
          </a:solidFill>
          <a:latin typeface="+mn-lt"/>
          <a:ea typeface="+mn-ea"/>
        </a:defRPr>
      </a:lvl5pPr>
      <a:lvl6pPr marL="10333038" indent="-1096963" algn="l" defTabSz="4389438" rtl="0" fontAlgn="base">
        <a:spcBef>
          <a:spcPct val="20000"/>
        </a:spcBef>
        <a:spcAft>
          <a:spcPct val="0"/>
        </a:spcAft>
        <a:buChar char="»"/>
        <a:defRPr sz="9600">
          <a:solidFill>
            <a:schemeClr val="tx1"/>
          </a:solidFill>
          <a:latin typeface="+mn-lt"/>
          <a:ea typeface="+mn-ea"/>
        </a:defRPr>
      </a:lvl6pPr>
      <a:lvl7pPr marL="10790238" indent="-1096963" algn="l" defTabSz="4389438" rtl="0" fontAlgn="base">
        <a:spcBef>
          <a:spcPct val="20000"/>
        </a:spcBef>
        <a:spcAft>
          <a:spcPct val="0"/>
        </a:spcAft>
        <a:buChar char="»"/>
        <a:defRPr sz="9600">
          <a:solidFill>
            <a:schemeClr val="tx1"/>
          </a:solidFill>
          <a:latin typeface="+mn-lt"/>
          <a:ea typeface="+mn-ea"/>
        </a:defRPr>
      </a:lvl7pPr>
      <a:lvl8pPr marL="11247438" indent="-1096963" algn="l" defTabSz="4389438" rtl="0" fontAlgn="base">
        <a:spcBef>
          <a:spcPct val="20000"/>
        </a:spcBef>
        <a:spcAft>
          <a:spcPct val="0"/>
        </a:spcAft>
        <a:buChar char="»"/>
        <a:defRPr sz="9600">
          <a:solidFill>
            <a:schemeClr val="tx1"/>
          </a:solidFill>
          <a:latin typeface="+mn-lt"/>
          <a:ea typeface="+mn-ea"/>
        </a:defRPr>
      </a:lvl8pPr>
      <a:lvl9pPr marL="11704638" indent="-1096963" algn="l" defTabSz="4389438" rtl="0" fontAlgn="base">
        <a:spcBef>
          <a:spcPct val="20000"/>
        </a:spcBef>
        <a:spcAft>
          <a:spcPct val="0"/>
        </a:spcAft>
        <a:buChar char="»"/>
        <a:defRPr sz="9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jp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jp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15"/>
          <p:cNvSpPr txBox="1">
            <a:spLocks noChangeArrowheads="1"/>
          </p:cNvSpPr>
          <p:nvPr/>
        </p:nvSpPr>
        <p:spPr bwMode="auto">
          <a:xfrm>
            <a:off x="9198768" y="138040"/>
            <a:ext cx="34736088" cy="274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0" tIns="914400" rIns="457200" bIns="4572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8800" dirty="0">
                <a:solidFill>
                  <a:schemeClr val="bg1"/>
                </a:solidFill>
                <a:latin typeface="Impact" panose="020B0806030902050204" pitchFamily="34" charset="0"/>
              </a:rPr>
              <a:t>SUSTAINABLE CAPSTONE PROJECTS  ( SCAP )</a:t>
            </a:r>
          </a:p>
          <a:p>
            <a:pPr algn="ctr" eaLnBrk="1" hangingPunct="1"/>
            <a:r>
              <a:rPr lang="en-US" altLang="en-US" sz="8800" dirty="0">
                <a:solidFill>
                  <a:schemeClr val="bg1"/>
                </a:solidFill>
                <a:latin typeface="Impact" panose="020B0806030902050204" pitchFamily="34" charset="0"/>
              </a:rPr>
              <a:t>FALL 2025-2026</a:t>
            </a:r>
          </a:p>
        </p:txBody>
      </p:sp>
      <p:sp>
        <p:nvSpPr>
          <p:cNvPr id="2051" name="Text Box 16"/>
          <p:cNvSpPr txBox="1">
            <a:spLocks noChangeArrowheads="1"/>
          </p:cNvSpPr>
          <p:nvPr/>
        </p:nvSpPr>
        <p:spPr bwMode="auto">
          <a:xfrm>
            <a:off x="9198768" y="3102335"/>
            <a:ext cx="34736088" cy="274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0" tIns="457200" rIns="457200" bIns="4572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tr-TR" sz="9600" b="1" u="sng"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PET FEEDING SYSTEM </a:t>
            </a:r>
          </a:p>
        </p:txBody>
      </p:sp>
      <p:sp>
        <p:nvSpPr>
          <p:cNvPr id="2052" name="Text Box 23"/>
          <p:cNvSpPr txBox="1">
            <a:spLocks noChangeArrowheads="1"/>
          </p:cNvSpPr>
          <p:nvPr/>
        </p:nvSpPr>
        <p:spPr bwMode="auto">
          <a:xfrm>
            <a:off x="10058400" y="5486400"/>
            <a:ext cx="100552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INTRODUCTION</a:t>
            </a:r>
          </a:p>
        </p:txBody>
      </p:sp>
      <p:sp>
        <p:nvSpPr>
          <p:cNvPr id="2053" name="Text Box 25"/>
          <p:cNvSpPr txBox="1">
            <a:spLocks noChangeArrowheads="1"/>
          </p:cNvSpPr>
          <p:nvPr/>
        </p:nvSpPr>
        <p:spPr bwMode="auto">
          <a:xfrm>
            <a:off x="8684418" y="18772760"/>
            <a:ext cx="100552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MATERIALS USED IN CONSTRUCTION</a:t>
            </a:r>
          </a:p>
        </p:txBody>
      </p:sp>
      <p:sp>
        <p:nvSpPr>
          <p:cNvPr id="2054" name="Text Box 27"/>
          <p:cNvSpPr txBox="1">
            <a:spLocks noChangeArrowheads="1"/>
          </p:cNvSpPr>
          <p:nvPr/>
        </p:nvSpPr>
        <p:spPr bwMode="auto">
          <a:xfrm>
            <a:off x="33942438" y="18857438"/>
            <a:ext cx="100552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CONCLUSIONS</a:t>
            </a:r>
          </a:p>
        </p:txBody>
      </p:sp>
      <p:sp>
        <p:nvSpPr>
          <p:cNvPr id="2055" name="Text Box 28"/>
          <p:cNvSpPr txBox="1">
            <a:spLocks noChangeArrowheads="1"/>
          </p:cNvSpPr>
          <p:nvPr/>
        </p:nvSpPr>
        <p:spPr bwMode="auto">
          <a:xfrm>
            <a:off x="33614205" y="5559425"/>
            <a:ext cx="100552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RESULTS AND DISCUSSION</a:t>
            </a:r>
          </a:p>
        </p:txBody>
      </p:sp>
      <p:sp>
        <p:nvSpPr>
          <p:cNvPr id="2057" name="Text Box 30"/>
          <p:cNvSpPr txBox="1">
            <a:spLocks noChangeArrowheads="1"/>
          </p:cNvSpPr>
          <p:nvPr/>
        </p:nvSpPr>
        <p:spPr bwMode="auto">
          <a:xfrm>
            <a:off x="34362534" y="27569512"/>
            <a:ext cx="100552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REFERENCES</a:t>
            </a:r>
          </a:p>
        </p:txBody>
      </p:sp>
      <p:sp>
        <p:nvSpPr>
          <p:cNvPr id="2099" name="Text Box 118"/>
          <p:cNvSpPr txBox="1">
            <a:spLocks noChangeArrowheads="1"/>
          </p:cNvSpPr>
          <p:nvPr/>
        </p:nvSpPr>
        <p:spPr bwMode="auto">
          <a:xfrm>
            <a:off x="-773336" y="5483225"/>
            <a:ext cx="91408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GROUP MEMBERS</a:t>
            </a:r>
          </a:p>
        </p:txBody>
      </p:sp>
      <p:sp>
        <p:nvSpPr>
          <p:cNvPr id="2102" name="Text Box 121"/>
          <p:cNvSpPr txBox="1">
            <a:spLocks noChangeArrowheads="1"/>
          </p:cNvSpPr>
          <p:nvPr/>
        </p:nvSpPr>
        <p:spPr bwMode="auto">
          <a:xfrm>
            <a:off x="247743" y="7083024"/>
            <a:ext cx="8499254" cy="15788938"/>
          </a:xfrm>
          <a:prstGeom prst="rect">
            <a:avLst/>
          </a:prstGeom>
          <a:solidFill>
            <a:schemeClr val="bg1"/>
          </a:solidFill>
          <a:ln w="19050">
            <a:solidFill>
              <a:schemeClr val="bg2"/>
            </a:solidFill>
            <a:prstDash val="dash"/>
            <a:miter lim="800000"/>
            <a:headEnd/>
            <a:tailEnd/>
          </a:ln>
        </p:spPr>
        <p:txBody>
          <a:bodyPr wrap="square" lIns="228600" tIns="228600" rIns="228600" bIns="228600">
            <a:spAutoFit/>
          </a:bodyPr>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marL="571500" indent="-571500" eaLnBrk="1" hangingPunct="1">
              <a:buFont typeface="Arial" panose="020B0604020202020204" pitchFamily="34" charset="0"/>
              <a:buChar char="•"/>
            </a:pPr>
            <a:r>
              <a:rPr lang="en-US" altLang="en-US" sz="4400" b="1" dirty="0">
                <a:latin typeface="+mj-lt"/>
                <a:cs typeface="Times New Roman" panose="02020603050405020304" pitchFamily="18" charset="0"/>
              </a:rPr>
              <a:t>HANA SHAIMI   </a:t>
            </a:r>
          </a:p>
          <a:p>
            <a:pPr eaLnBrk="1" hangingPunct="1"/>
            <a:r>
              <a:rPr lang="en-US" altLang="en-US" sz="4400" b="1" dirty="0">
                <a:latin typeface="+mj-lt"/>
                <a:cs typeface="Times New Roman" panose="02020603050405020304" pitchFamily="18" charset="0"/>
              </a:rPr>
              <a:t>22312235 CMPE ENG</a:t>
            </a:r>
          </a:p>
          <a:p>
            <a:pPr eaLnBrk="1" hangingPunct="1"/>
            <a:endParaRPr lang="en-US" altLang="en-US" sz="4400" b="1" dirty="0">
              <a:latin typeface="+mj-lt"/>
              <a:cs typeface="Times New Roman" panose="02020603050405020304" pitchFamily="18" charset="0"/>
            </a:endParaRPr>
          </a:p>
          <a:p>
            <a:pPr marL="571500" indent="-571500" eaLnBrk="1" hangingPunct="1">
              <a:buFont typeface="Arial" panose="020B0604020202020204" pitchFamily="34" charset="0"/>
              <a:buChar char="•"/>
            </a:pPr>
            <a:r>
              <a:rPr lang="en-US" altLang="en-US" sz="4400" b="1" dirty="0">
                <a:latin typeface="+mj-lt"/>
                <a:cs typeface="Times New Roman" panose="02020603050405020304" pitchFamily="18" charset="0"/>
              </a:rPr>
              <a:t>MAJDOLINE ELBENNADI 22310812 CMPE ENG</a:t>
            </a:r>
          </a:p>
          <a:p>
            <a:pPr marL="571500" indent="-571500" eaLnBrk="1" hangingPunct="1">
              <a:buFont typeface="Arial" panose="020B0604020202020204" pitchFamily="34" charset="0"/>
              <a:buChar char="•"/>
            </a:pPr>
            <a:endParaRPr lang="en-US" altLang="en-US" sz="4400" b="1" dirty="0">
              <a:latin typeface="+mj-lt"/>
              <a:cs typeface="Times New Roman" panose="02020603050405020304" pitchFamily="18" charset="0"/>
            </a:endParaRPr>
          </a:p>
          <a:p>
            <a:pPr marL="571500" indent="-571500" eaLnBrk="1" hangingPunct="1">
              <a:buFont typeface="Arial" panose="020B0604020202020204" pitchFamily="34" charset="0"/>
              <a:buChar char="•"/>
            </a:pPr>
            <a:r>
              <a:rPr lang="en-US" altLang="en-US" sz="4400" b="1" dirty="0">
                <a:latin typeface="+mj-lt"/>
                <a:cs typeface="Times New Roman" panose="02020603050405020304" pitchFamily="18" charset="0"/>
              </a:rPr>
              <a:t>IMANE ELATMANI</a:t>
            </a:r>
          </a:p>
          <a:p>
            <a:pPr eaLnBrk="1" hangingPunct="1"/>
            <a:r>
              <a:rPr lang="en-US" altLang="en-US" sz="4400" b="1" dirty="0">
                <a:latin typeface="+mj-lt"/>
                <a:cs typeface="Times New Roman" panose="02020603050405020304" pitchFamily="18" charset="0"/>
              </a:rPr>
              <a:t>     22307643   SWEN ENG </a:t>
            </a:r>
          </a:p>
          <a:p>
            <a:pPr eaLnBrk="1" hangingPunct="1"/>
            <a:endParaRPr lang="en-US" altLang="en-US" sz="4400" b="1" dirty="0">
              <a:latin typeface="+mj-lt"/>
              <a:cs typeface="Times New Roman" panose="02020603050405020304" pitchFamily="18" charset="0"/>
            </a:endParaRPr>
          </a:p>
          <a:p>
            <a:pPr marL="571500" indent="-571500" eaLnBrk="1" hangingPunct="1">
              <a:buFont typeface="Arial" panose="020B0604020202020204" pitchFamily="34" charset="0"/>
              <a:buChar char="•"/>
            </a:pPr>
            <a:r>
              <a:rPr lang="en-US" altLang="en-US" sz="4400" b="1" dirty="0">
                <a:latin typeface="+mj-lt"/>
                <a:cs typeface="Times New Roman" panose="02020603050405020304" pitchFamily="18" charset="0"/>
              </a:rPr>
              <a:t>WALID TOUIJIR </a:t>
            </a:r>
          </a:p>
          <a:p>
            <a:pPr eaLnBrk="1" hangingPunct="1"/>
            <a:r>
              <a:rPr lang="en-US" altLang="en-US" sz="4400" b="1" dirty="0">
                <a:latin typeface="+mj-lt"/>
                <a:cs typeface="Times New Roman" panose="02020603050405020304" pitchFamily="18" charset="0"/>
              </a:rPr>
              <a:t>    22307338 CMPE ENG</a:t>
            </a:r>
          </a:p>
          <a:p>
            <a:pPr eaLnBrk="1" hangingPunct="1"/>
            <a:endParaRPr lang="en-US" altLang="en-US" sz="4400" b="1" dirty="0">
              <a:latin typeface="+mj-lt"/>
              <a:cs typeface="Times New Roman" panose="02020603050405020304" pitchFamily="18" charset="0"/>
            </a:endParaRPr>
          </a:p>
          <a:p>
            <a:pPr marL="685800" indent="-685800" eaLnBrk="1" hangingPunct="1">
              <a:buFont typeface="Arial" panose="020B0604020202020204" pitchFamily="34" charset="0"/>
              <a:buChar char="•"/>
            </a:pPr>
            <a:r>
              <a:rPr lang="en-US" altLang="en-US" sz="4800" b="1" dirty="0">
                <a:latin typeface="+mj-lt"/>
                <a:cs typeface="Times New Roman" panose="02020603050405020304" pitchFamily="18" charset="0"/>
              </a:rPr>
              <a:t>ADAM ELBOUDALI ZAHID</a:t>
            </a:r>
          </a:p>
          <a:p>
            <a:pPr eaLnBrk="1" hangingPunct="1"/>
            <a:r>
              <a:rPr lang="en-US" altLang="en-US" sz="4800" b="1" dirty="0">
                <a:latin typeface="+mj-lt"/>
                <a:cs typeface="Times New Roman" panose="02020603050405020304" pitchFamily="18" charset="0"/>
              </a:rPr>
              <a:t>     </a:t>
            </a:r>
            <a:r>
              <a:rPr lang="en-US" altLang="en-US" sz="4400" b="1" dirty="0">
                <a:latin typeface="+mj-lt"/>
                <a:cs typeface="Times New Roman" panose="02020603050405020304" pitchFamily="18" charset="0"/>
              </a:rPr>
              <a:t>22316739 SWEN ENG</a:t>
            </a:r>
          </a:p>
          <a:p>
            <a:pPr eaLnBrk="1" hangingPunct="1"/>
            <a:endParaRPr lang="en-US" altLang="en-US" sz="4400" dirty="0">
              <a:latin typeface="+mj-lt"/>
            </a:endParaRPr>
          </a:p>
          <a:p>
            <a:pPr eaLnBrk="1" hangingPunct="1"/>
            <a:endParaRPr lang="en-US" altLang="en-US" sz="2800" dirty="0">
              <a:latin typeface="+mj-lt"/>
            </a:endParaRPr>
          </a:p>
          <a:p>
            <a:pPr eaLnBrk="1" hangingPunct="1"/>
            <a:endParaRPr lang="en-US" altLang="en-US" sz="2800" dirty="0">
              <a:latin typeface="+mj-lt"/>
            </a:endParaRPr>
          </a:p>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p:txBody>
      </p:sp>
      <p:sp>
        <p:nvSpPr>
          <p:cNvPr id="2104" name="Text Box 123"/>
          <p:cNvSpPr txBox="1">
            <a:spLocks noChangeArrowheads="1"/>
          </p:cNvSpPr>
          <p:nvPr/>
        </p:nvSpPr>
        <p:spPr bwMode="auto">
          <a:xfrm>
            <a:off x="33746918" y="6854825"/>
            <a:ext cx="10055225" cy="11884025"/>
          </a:xfrm>
          <a:prstGeom prst="rect">
            <a:avLst/>
          </a:prstGeom>
          <a:solidFill>
            <a:schemeClr val="bg1"/>
          </a:solidFill>
          <a:ln w="19050">
            <a:solidFill>
              <a:schemeClr val="bg2"/>
            </a:solidFill>
            <a:prstDash val="dash"/>
            <a:miter lim="800000"/>
            <a:headEnd/>
            <a:tailEnd/>
          </a:ln>
        </p:spPr>
        <p:txBody>
          <a:bodyPr lIns="228600" tIns="228600" rIns="228600" bIns="2286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marL="457200" indent="-457200">
              <a:buFont typeface="Arial" panose="020B0604020202020204" pitchFamily="34" charset="0"/>
              <a:buChar char="•"/>
            </a:pPr>
            <a:r>
              <a:rPr lang="en-US" sz="2800" dirty="0"/>
              <a:t>The Automatic Pet Feeding System operated successfully by dispensing food at the correct times and ensuring a smooth feeding process. The recycled wooden structure and plastic bottle effectively guided the food without blockage, while the electronic components (ESP microcontroller, servo motor, and battery) functioned reliably. The website connected to the </a:t>
            </a:r>
            <a:r>
              <a:rPr lang="en-US" sz="2800" dirty="0" err="1"/>
              <a:t>Supabase</a:t>
            </a:r>
            <a:r>
              <a:rPr lang="en-US" sz="2800" dirty="0"/>
              <a:t> database also performed well, enabling real-time data storage and monitoring.</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Although the system met its main objectives, future improvements could include adding sensors (such as weight or motion sensors), AI camera integration, enhanced portion control, a more durable casing, and additional website features like notifications or mobile app support. Overall, the project achieved its goals and shows strong potential for further development.</a:t>
            </a:r>
          </a:p>
        </p:txBody>
      </p:sp>
      <p:sp>
        <p:nvSpPr>
          <p:cNvPr id="2105" name="Text Box 124"/>
          <p:cNvSpPr txBox="1">
            <a:spLocks noChangeArrowheads="1"/>
          </p:cNvSpPr>
          <p:nvPr/>
        </p:nvSpPr>
        <p:spPr bwMode="auto">
          <a:xfrm>
            <a:off x="9165367" y="20119976"/>
            <a:ext cx="10055225" cy="12350750"/>
          </a:xfrm>
          <a:prstGeom prst="rect">
            <a:avLst/>
          </a:prstGeom>
          <a:solidFill>
            <a:schemeClr val="bg1"/>
          </a:solidFill>
          <a:ln w="19050">
            <a:solidFill>
              <a:schemeClr val="bg2"/>
            </a:solidFill>
            <a:prstDash val="dash"/>
            <a:miter lim="800000"/>
            <a:headEnd/>
            <a:tailEnd/>
          </a:ln>
        </p:spPr>
        <p:txBody>
          <a:bodyPr lIns="228600" tIns="228600" rIns="228600" bIns="2286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marL="457200" indent="-457200">
              <a:buFont typeface="Arial" panose="020B0604020202020204" pitchFamily="34" charset="0"/>
              <a:buChar char="•"/>
            </a:pPr>
            <a:r>
              <a:rPr lang="en-US" sz="2800" dirty="0"/>
              <a:t>For this project, both recycled and new materials were used to build the Automatic Cat Feeding System, focusing on sustainability and functionality. Recycled materials included a wooden base and box, which formed the main enclosure, and a plastic bottle placed inside the box to guide food smoothly into the bowl and prevent blockage. This approach reduced cost and waste while demonstrating the reuse of household materials in engineering applications.</a:t>
            </a:r>
          </a:p>
          <a:p>
            <a:endParaRPr lang="en-US" sz="2800" dirty="0"/>
          </a:p>
          <a:p>
            <a:endParaRPr lang="en-US" sz="2800" dirty="0"/>
          </a:p>
          <a:p>
            <a:endParaRPr lang="en-US" sz="2800" dirty="0"/>
          </a:p>
          <a:p>
            <a:pPr marL="457200" indent="-457200">
              <a:buFont typeface="Arial" panose="020B0604020202020204" pitchFamily="34" charset="0"/>
              <a:buChar char="•"/>
            </a:pPr>
            <a:r>
              <a:rPr lang="en-US" sz="2800" dirty="0"/>
              <a:t>The electronic components consisted of an ESP board as the main controller, a servo motor to control food portions, connecting wires, and a battery for power supply. Together, these components enabled automatic, precise, and reliable feeding for pets.</a:t>
            </a:r>
          </a:p>
          <a:p>
            <a:pPr marL="457200" indent="-457200">
              <a:buFont typeface="Arial" panose="020B0604020202020204" pitchFamily="34" charset="0"/>
              <a:buChar char="•"/>
            </a:pPr>
            <a:endParaRPr lang="en-US" sz="2800" dirty="0"/>
          </a:p>
        </p:txBody>
      </p:sp>
      <p:sp>
        <p:nvSpPr>
          <p:cNvPr id="2106" name="Text Box 125"/>
          <p:cNvSpPr txBox="1">
            <a:spLocks noChangeArrowheads="1"/>
          </p:cNvSpPr>
          <p:nvPr/>
        </p:nvSpPr>
        <p:spPr bwMode="auto">
          <a:xfrm>
            <a:off x="33805812" y="20144360"/>
            <a:ext cx="10055225" cy="7626350"/>
          </a:xfrm>
          <a:prstGeom prst="rect">
            <a:avLst/>
          </a:prstGeom>
          <a:solidFill>
            <a:schemeClr val="bg1"/>
          </a:solidFill>
          <a:ln w="19050">
            <a:solidFill>
              <a:schemeClr val="bg2"/>
            </a:solidFill>
            <a:prstDash val="dash"/>
            <a:miter lim="800000"/>
            <a:headEnd/>
            <a:tailEnd/>
          </a:ln>
        </p:spPr>
        <p:txBody>
          <a:bodyPr lIns="228600" tIns="228600" rIns="228600" bIns="2286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r>
              <a:rPr lang="en-US" sz="2400" dirty="0"/>
              <a:t>In conclusion, this project successfully demonstrated the design of a reliable automatic pet feeding system using simple electronics and recycled materials. The ESP microcontroller, servo motor, and battery worked together to dispense food accurately, while the reused wooden box and plastic bottle provided a practical and sustainable structure. The integrated website connected to a </a:t>
            </a:r>
            <a:r>
              <a:rPr lang="en-US" sz="2400" dirty="0" err="1"/>
              <a:t>Supabase</a:t>
            </a:r>
            <a:r>
              <a:rPr lang="en-US" sz="2400" dirty="0"/>
              <a:t> database added real-time monitoring and control capabilities.</a:t>
            </a:r>
          </a:p>
          <a:p>
            <a:r>
              <a:rPr lang="en-US" sz="2400" dirty="0"/>
              <a:t>Despite challenges such as limited budget, component availability, and restricted resources in Cyprus, the project encouraged creative problem-solving and hands-on learning. Through the SCAP program, valuable experience was gained in embedded systems, teamwork, and adapting to real-world engineering constraints.</a:t>
            </a:r>
          </a:p>
        </p:txBody>
      </p:sp>
      <p:sp>
        <p:nvSpPr>
          <p:cNvPr id="2107" name="Text Box 126"/>
          <p:cNvSpPr txBox="1">
            <a:spLocks noChangeArrowheads="1"/>
          </p:cNvSpPr>
          <p:nvPr/>
        </p:nvSpPr>
        <p:spPr bwMode="auto">
          <a:xfrm>
            <a:off x="9201816" y="7035186"/>
            <a:ext cx="10055225" cy="11884025"/>
          </a:xfrm>
          <a:prstGeom prst="rect">
            <a:avLst/>
          </a:prstGeom>
          <a:solidFill>
            <a:schemeClr val="bg1"/>
          </a:solidFill>
          <a:ln w="19050">
            <a:solidFill>
              <a:schemeClr val="bg2"/>
            </a:solidFill>
            <a:prstDash val="dash"/>
            <a:miter lim="800000"/>
            <a:headEnd/>
            <a:tailEnd/>
          </a:ln>
        </p:spPr>
        <p:txBody>
          <a:bodyPr lIns="228600" tIns="228600" rIns="228600" bIns="2286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r>
              <a:rPr lang="en-US" sz="2800" dirty="0">
                <a:latin typeface="Times New Roman" panose="02020603050405020304" pitchFamily="18" charset="0"/>
                <a:cs typeface="Times New Roman" panose="02020603050405020304" pitchFamily="18" charset="0"/>
              </a:rPr>
              <a:t>T</a:t>
            </a:r>
            <a:r>
              <a:rPr lang="en-US" sz="2800" dirty="0"/>
              <a:t>he </a:t>
            </a:r>
            <a:r>
              <a:rPr lang="en-US" sz="2800" b="1" dirty="0"/>
              <a:t>Automatic Pet Feeding System</a:t>
            </a:r>
            <a:r>
              <a:rPr lang="en-US" sz="2800" dirty="0"/>
              <a:t> is designed to dispense food for pet cats or dogs at predefined times without requiring the owner’s physical presence. The system integrates a feeding mechanism with a control unit to ensure that pets receive a consistent and accurate amount of food in a safe and reliable manner. By automating the feeding process, the system enhances daily pet care and ensures regular meal schedules.</a:t>
            </a:r>
          </a:p>
          <a:p>
            <a:r>
              <a:rPr lang="en-US" sz="2800" dirty="0"/>
              <a:t>This project addresses common challenges faced by pet owners, particularly those with busy lifestyles or frequent travel commitments, who may struggle to maintain a consistent feeding routine. Irregular feeding can negatively impact a pet’s health, increase stress levels, and lead to issues such as overeating or missed meals. The Automatic Pet Feeding System helps eliminate these problems by providing precise, scheduled feeding with minimal human intervention.</a:t>
            </a:r>
          </a:p>
          <a:p>
            <a:r>
              <a:rPr lang="en-US" sz="2800" dirty="0"/>
              <a:t>The primary objective of this project is to develop a dependable and user-friendly system that dispenses controlled portions at specific times. In addition to improving convenience for pet owners, the project demonstrates the practical application of automation and embedded systems concepts in solving real-world problems related to pet care.</a:t>
            </a:r>
          </a:p>
        </p:txBody>
      </p:sp>
      <p:sp>
        <p:nvSpPr>
          <p:cNvPr id="2108" name="Text Box 127"/>
          <p:cNvSpPr txBox="1">
            <a:spLocks noChangeArrowheads="1"/>
          </p:cNvSpPr>
          <p:nvPr/>
        </p:nvSpPr>
        <p:spPr bwMode="auto">
          <a:xfrm>
            <a:off x="33451800" y="28575098"/>
            <a:ext cx="10055225" cy="4124505"/>
          </a:xfrm>
          <a:prstGeom prst="rect">
            <a:avLst/>
          </a:prstGeom>
          <a:solidFill>
            <a:schemeClr val="bg1"/>
          </a:solidFill>
          <a:ln w="19050">
            <a:solidFill>
              <a:schemeClr val="bg2"/>
            </a:solidFill>
            <a:prstDash val="dash"/>
            <a:miter lim="800000"/>
            <a:headEnd/>
            <a:tailEnd/>
          </a:ln>
        </p:spPr>
        <p:txBody>
          <a:bodyPr lIns="228600" tIns="228600" rIns="228600" bIns="228600"/>
          <a:lstStyle>
            <a:lvl1pPr marL="342900" indent="-342900">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spcAft>
                <a:spcPct val="50000"/>
              </a:spcAft>
              <a:buFont typeface="Arial" panose="020B0604020202020204" pitchFamily="34" charset="0"/>
              <a:buChar char="•"/>
            </a:pPr>
            <a:r>
              <a:rPr lang="fr-MA" sz="2000" dirty="0" err="1">
                <a:latin typeface="+mn-lt"/>
                <a:cs typeface="Times New Roman" panose="02020603050405020304" pitchFamily="18" charset="0"/>
              </a:rPr>
              <a:t>Espressif</a:t>
            </a:r>
            <a:r>
              <a:rPr lang="fr-MA" sz="2000" dirty="0">
                <a:latin typeface="+mn-lt"/>
                <a:cs typeface="Times New Roman" panose="02020603050405020304" pitchFamily="18" charset="0"/>
              </a:rPr>
              <a:t> </a:t>
            </a:r>
            <a:r>
              <a:rPr lang="fr-MA" sz="2000" dirty="0" err="1">
                <a:latin typeface="+mn-lt"/>
                <a:cs typeface="Times New Roman" panose="02020603050405020304" pitchFamily="18" charset="0"/>
              </a:rPr>
              <a:t>Systems</a:t>
            </a:r>
            <a:r>
              <a:rPr lang="fr-MA" sz="2000" dirty="0">
                <a:latin typeface="+mn-lt"/>
                <a:cs typeface="Times New Roman" panose="02020603050405020304" pitchFamily="18" charset="0"/>
              </a:rPr>
              <a:t>, </a:t>
            </a:r>
            <a:r>
              <a:rPr lang="fr-MA" sz="2000" i="1" dirty="0">
                <a:latin typeface="+mn-lt"/>
                <a:cs typeface="Times New Roman" panose="02020603050405020304" pitchFamily="18" charset="0"/>
              </a:rPr>
              <a:t>“ESP32/ESP8266 </a:t>
            </a:r>
            <a:r>
              <a:rPr lang="fr-MA" sz="2000" i="1" dirty="0" err="1">
                <a:latin typeface="+mn-lt"/>
                <a:cs typeface="Times New Roman" panose="02020603050405020304" pitchFamily="18" charset="0"/>
              </a:rPr>
              <a:t>Technical</a:t>
            </a:r>
            <a:r>
              <a:rPr lang="fr-MA" sz="2000" i="1" dirty="0">
                <a:latin typeface="+mn-lt"/>
                <a:cs typeface="Times New Roman" panose="02020603050405020304" pitchFamily="18" charset="0"/>
              </a:rPr>
              <a:t> Reference </a:t>
            </a:r>
            <a:r>
              <a:rPr lang="fr-MA" sz="2000" i="1" dirty="0" err="1">
                <a:latin typeface="+mn-lt"/>
                <a:cs typeface="Times New Roman" panose="02020603050405020304" pitchFamily="18" charset="0"/>
              </a:rPr>
              <a:t>ManuaL</a:t>
            </a:r>
            <a:endParaRPr lang="fr-MA" sz="2000" i="1" dirty="0">
              <a:latin typeface="+mn-lt"/>
              <a:cs typeface="Times New Roman" panose="02020603050405020304" pitchFamily="18" charset="0"/>
            </a:endParaRPr>
          </a:p>
          <a:p>
            <a:pPr eaLnBrk="1" hangingPunct="1">
              <a:spcAft>
                <a:spcPct val="50000"/>
              </a:spcAft>
              <a:buFont typeface="Arial" panose="020B0604020202020204" pitchFamily="34" charset="0"/>
              <a:buChar char="•"/>
            </a:pPr>
            <a:r>
              <a:rPr lang="fr-MA" sz="2000" i="1" dirty="0">
                <a:latin typeface="+mn-lt"/>
                <a:cs typeface="Times New Roman" panose="02020603050405020304" pitchFamily="18" charset="0"/>
              </a:rPr>
              <a:t>Arduino, “Arduino IDE User Guide.”</a:t>
            </a:r>
          </a:p>
          <a:p>
            <a:pPr eaLnBrk="1" hangingPunct="1">
              <a:spcAft>
                <a:spcPct val="50000"/>
              </a:spcAft>
              <a:buFont typeface="Arial" panose="020B0604020202020204" pitchFamily="34" charset="0"/>
              <a:buChar char="•"/>
            </a:pPr>
            <a:r>
              <a:rPr lang="fr-MA" sz="2000" i="1" dirty="0">
                <a:latin typeface="+mn-lt"/>
                <a:cs typeface="Times New Roman" panose="02020603050405020304" pitchFamily="18" charset="0"/>
              </a:rPr>
              <a:t>Tower Pro, “SG90 Micro Servo </a:t>
            </a:r>
            <a:r>
              <a:rPr lang="fr-MA" sz="2000" i="1" dirty="0" err="1">
                <a:latin typeface="+mn-lt"/>
                <a:cs typeface="Times New Roman" panose="02020603050405020304" pitchFamily="18" charset="0"/>
              </a:rPr>
              <a:t>Motor</a:t>
            </a:r>
            <a:r>
              <a:rPr lang="fr-MA" sz="2000" i="1" dirty="0">
                <a:latin typeface="+mn-lt"/>
                <a:cs typeface="Times New Roman" panose="02020603050405020304" pitchFamily="18" charset="0"/>
              </a:rPr>
              <a:t> Datasheet.”</a:t>
            </a:r>
          </a:p>
          <a:p>
            <a:pPr eaLnBrk="1" hangingPunct="1">
              <a:spcAft>
                <a:spcPct val="50000"/>
              </a:spcAft>
              <a:buFont typeface="Arial" panose="020B0604020202020204" pitchFamily="34" charset="0"/>
              <a:buChar char="•"/>
            </a:pPr>
            <a:r>
              <a:rPr lang="fr-MA" sz="2000" i="1" dirty="0" err="1">
                <a:latin typeface="+mn-lt"/>
                <a:cs typeface="Times New Roman" panose="02020603050405020304" pitchFamily="18" charset="0"/>
              </a:rPr>
              <a:t>Songle</a:t>
            </a:r>
            <a:r>
              <a:rPr lang="fr-MA" sz="2000" i="1" dirty="0">
                <a:latin typeface="+mn-lt"/>
                <a:cs typeface="Times New Roman" panose="02020603050405020304" pitchFamily="18" charset="0"/>
              </a:rPr>
              <a:t>, “SRD-05VDC-SL-C Relay Module Datasheet.”</a:t>
            </a:r>
          </a:p>
          <a:p>
            <a:pPr eaLnBrk="1" hangingPunct="1">
              <a:spcAft>
                <a:spcPct val="50000"/>
              </a:spcAft>
              <a:buFont typeface="Arial" panose="020B0604020202020204" pitchFamily="34" charset="0"/>
              <a:buChar char="•"/>
            </a:pPr>
            <a:r>
              <a:rPr lang="fr-MA" sz="2000" i="1" dirty="0" err="1">
                <a:latin typeface="+mn-lt"/>
                <a:cs typeface="Times New Roman" panose="02020603050405020304" pitchFamily="18" charset="0"/>
              </a:rPr>
              <a:t>Supabase</a:t>
            </a:r>
            <a:r>
              <a:rPr lang="fr-MA" sz="2000" i="1" dirty="0">
                <a:latin typeface="+mn-lt"/>
                <a:cs typeface="Times New Roman" panose="02020603050405020304" pitchFamily="18" charset="0"/>
              </a:rPr>
              <a:t>, “</a:t>
            </a:r>
            <a:r>
              <a:rPr lang="fr-MA" sz="2000" i="1" dirty="0" err="1">
                <a:latin typeface="+mn-lt"/>
                <a:cs typeface="Times New Roman" panose="02020603050405020304" pitchFamily="18" charset="0"/>
              </a:rPr>
              <a:t>Supabase</a:t>
            </a:r>
            <a:r>
              <a:rPr lang="fr-MA" sz="2000" i="1" dirty="0">
                <a:latin typeface="+mn-lt"/>
                <a:cs typeface="Times New Roman" panose="02020603050405020304" pitchFamily="18" charset="0"/>
              </a:rPr>
              <a:t> Documentation.”</a:t>
            </a:r>
          </a:p>
          <a:p>
            <a:pPr eaLnBrk="1" hangingPunct="1">
              <a:spcAft>
                <a:spcPct val="50000"/>
              </a:spcAft>
              <a:buFont typeface="Arial" panose="020B0604020202020204" pitchFamily="34" charset="0"/>
              <a:buChar char="•"/>
            </a:pPr>
            <a:r>
              <a:rPr lang="fr-MA" sz="2000" i="1" dirty="0">
                <a:latin typeface="+mn-lt"/>
                <a:cs typeface="Times New Roman" panose="02020603050405020304" pitchFamily="18" charset="0"/>
              </a:rPr>
              <a:t>Mozilla </a:t>
            </a:r>
            <a:r>
              <a:rPr lang="fr-MA" sz="2000" i="1" dirty="0" err="1">
                <a:latin typeface="+mn-lt"/>
                <a:cs typeface="Times New Roman" panose="02020603050405020304" pitchFamily="18" charset="0"/>
              </a:rPr>
              <a:t>Developer</a:t>
            </a:r>
            <a:r>
              <a:rPr lang="fr-MA" sz="2000" i="1" dirty="0">
                <a:latin typeface="+mn-lt"/>
                <a:cs typeface="Times New Roman" panose="02020603050405020304" pitchFamily="18" charset="0"/>
              </a:rPr>
              <a:t> Network (MDN), “HTML, CSS, and JavaScript Web Documentation.”</a:t>
            </a:r>
          </a:p>
          <a:p>
            <a:pPr eaLnBrk="1" hangingPunct="1">
              <a:spcAft>
                <a:spcPct val="50000"/>
              </a:spcAft>
              <a:buFont typeface="Arial" panose="020B0604020202020204" pitchFamily="34" charset="0"/>
              <a:buChar char="•"/>
            </a:pPr>
            <a:r>
              <a:rPr lang="fr-MA" sz="2000" i="1" dirty="0" err="1">
                <a:latin typeface="+mn-lt"/>
                <a:cs typeface="Times New Roman" panose="02020603050405020304" pitchFamily="18" charset="0"/>
              </a:rPr>
              <a:t>SparkFun</a:t>
            </a:r>
            <a:r>
              <a:rPr lang="fr-MA" sz="2000" i="1" dirty="0">
                <a:latin typeface="+mn-lt"/>
                <a:cs typeface="Times New Roman" panose="02020603050405020304" pitchFamily="18" charset="0"/>
              </a:rPr>
              <a:t> Electronics, “Basic Electronics and </a:t>
            </a:r>
            <a:r>
              <a:rPr lang="fr-MA" sz="2000" i="1" dirty="0" err="1">
                <a:latin typeface="+mn-lt"/>
                <a:cs typeface="Times New Roman" panose="02020603050405020304" pitchFamily="18" charset="0"/>
              </a:rPr>
              <a:t>Microcontroller</a:t>
            </a:r>
            <a:r>
              <a:rPr lang="fr-MA" sz="2000" i="1" dirty="0">
                <a:latin typeface="+mn-lt"/>
                <a:cs typeface="Times New Roman" panose="02020603050405020304" pitchFamily="18" charset="0"/>
              </a:rPr>
              <a:t> </a:t>
            </a:r>
            <a:r>
              <a:rPr lang="fr-MA" sz="2000" i="1" dirty="0" err="1">
                <a:latin typeface="+mn-lt"/>
                <a:cs typeface="Times New Roman" panose="02020603050405020304" pitchFamily="18" charset="0"/>
              </a:rPr>
              <a:t>Tutorials</a:t>
            </a:r>
            <a:r>
              <a:rPr lang="fr-MA" sz="2000" i="1" dirty="0">
                <a:latin typeface="+mn-lt"/>
                <a:cs typeface="Times New Roman" panose="02020603050405020304" pitchFamily="18" charset="0"/>
              </a:rPr>
              <a:t>.”</a:t>
            </a:r>
          </a:p>
          <a:p>
            <a:pPr marL="0" indent="0" eaLnBrk="1" hangingPunct="1">
              <a:spcAft>
                <a:spcPct val="50000"/>
              </a:spcAft>
            </a:pPr>
            <a:endParaRPr lang="en-US" altLang="en-US" sz="800" dirty="0"/>
          </a:p>
        </p:txBody>
      </p:sp>
      <p:sp>
        <p:nvSpPr>
          <p:cNvPr id="2109" name="Text Box 130"/>
          <p:cNvSpPr txBox="1">
            <a:spLocks noChangeArrowheads="1"/>
          </p:cNvSpPr>
          <p:nvPr/>
        </p:nvSpPr>
        <p:spPr bwMode="auto">
          <a:xfrm>
            <a:off x="20194576" y="21542431"/>
            <a:ext cx="3583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tr-TR" sz="24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Figure 1. WEBSITE QR </a:t>
            </a:r>
          </a:p>
        </p:txBody>
      </p:sp>
      <p:sp>
        <p:nvSpPr>
          <p:cNvPr id="2110" name="Text Box 131"/>
          <p:cNvSpPr txBox="1">
            <a:spLocks noChangeArrowheads="1"/>
          </p:cNvSpPr>
          <p:nvPr/>
        </p:nvSpPr>
        <p:spPr bwMode="auto">
          <a:xfrm>
            <a:off x="19621371" y="26044049"/>
            <a:ext cx="48308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tr-TR"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Figure 2.WEBSITE INTERFACE </a:t>
            </a:r>
          </a:p>
        </p:txBody>
      </p:sp>
      <p:pic>
        <p:nvPicPr>
          <p:cNvPr id="2111"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6928" y="-777947"/>
            <a:ext cx="7315200" cy="6337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29"/>
          <p:cNvSpPr txBox="1">
            <a:spLocks noChangeArrowheads="1"/>
          </p:cNvSpPr>
          <p:nvPr/>
        </p:nvSpPr>
        <p:spPr bwMode="auto">
          <a:xfrm>
            <a:off x="21082000" y="5559425"/>
            <a:ext cx="109696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28600" tIns="228600" rIns="228600" bIns="228600" anchor="ctr" anchorCtr="1"/>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tr-TR" sz="4800" dirty="0">
                <a:solidFill>
                  <a:schemeClr val="bg1"/>
                </a:solidFill>
                <a:latin typeface="Impact" panose="020B0806030902050204" pitchFamily="34" charset="0"/>
              </a:rPr>
              <a:t>FINAL PRODUCT</a:t>
            </a:r>
          </a:p>
        </p:txBody>
      </p:sp>
      <p:sp>
        <p:nvSpPr>
          <p:cNvPr id="31" name="Text Box 122"/>
          <p:cNvSpPr txBox="1">
            <a:spLocks noChangeArrowheads="1"/>
          </p:cNvSpPr>
          <p:nvPr/>
        </p:nvSpPr>
        <p:spPr bwMode="auto">
          <a:xfrm>
            <a:off x="21023263" y="6854826"/>
            <a:ext cx="10969625" cy="11131477"/>
          </a:xfrm>
          <a:prstGeom prst="rect">
            <a:avLst/>
          </a:prstGeom>
          <a:solidFill>
            <a:schemeClr val="bg1"/>
          </a:solidFill>
          <a:ln w="19050">
            <a:solidFill>
              <a:schemeClr val="bg2"/>
            </a:solidFill>
            <a:prstDash val="dash"/>
            <a:miter lim="800000"/>
            <a:headEnd/>
            <a:tailEnd/>
          </a:ln>
        </p:spPr>
        <p:txBody>
          <a:bodyPr lIns="228600" tIns="228600" rIns="228600" bIns="228600"/>
          <a:lstStyle>
            <a:lvl1pPr>
              <a:defRPr sz="3200">
                <a:solidFill>
                  <a:schemeClr val="tx1"/>
                </a:solidFill>
                <a:latin typeface="Arial" panose="020B0604020202020204" pitchFamily="34" charset="0"/>
                <a:ea typeface="ＭＳ Ｐゴシック" panose="020B0600070205080204" pitchFamily="34" charset="-128"/>
              </a:defRPr>
            </a:lvl1pPr>
            <a:lvl2pPr marL="742950" indent="-285750">
              <a:defRPr sz="3200">
                <a:solidFill>
                  <a:schemeClr val="tx1"/>
                </a:solidFill>
                <a:latin typeface="Arial" panose="020B0604020202020204" pitchFamily="34" charset="0"/>
                <a:ea typeface="ＭＳ Ｐゴシック" panose="020B0600070205080204" pitchFamily="34" charset="-128"/>
              </a:defRPr>
            </a:lvl2pPr>
            <a:lvl3pPr marL="1143000" indent="-228600">
              <a:defRPr sz="3200">
                <a:solidFill>
                  <a:schemeClr val="tx1"/>
                </a:solidFill>
                <a:latin typeface="Arial" panose="020B0604020202020204" pitchFamily="34" charset="0"/>
                <a:ea typeface="ＭＳ Ｐゴシック" panose="020B0600070205080204" pitchFamily="34" charset="-128"/>
              </a:defRPr>
            </a:lvl3pPr>
            <a:lvl4pPr marL="1600200" indent="-228600">
              <a:defRPr sz="3200">
                <a:solidFill>
                  <a:schemeClr val="tx1"/>
                </a:solidFill>
                <a:latin typeface="Arial" panose="020B0604020202020204" pitchFamily="34" charset="0"/>
                <a:ea typeface="ＭＳ Ｐゴシック" panose="020B0600070205080204" pitchFamily="34" charset="-128"/>
              </a:defRPr>
            </a:lvl4pPr>
            <a:lvl5pPr marL="2057400" indent="-228600">
              <a:defRPr sz="3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marL="457200" indent="-457200">
              <a:buFont typeface="Arial" panose="020B0604020202020204" pitchFamily="34" charset="0"/>
              <a:buChar char="•"/>
            </a:pPr>
            <a:r>
              <a:rPr lang="en-US" sz="2800" dirty="0"/>
              <a:t>In this project, an electronic feeding system and an interactive website were developed to create a smart automatic cat feeder. The hardware system was based on an ESP microcontroller, which controlled a servo motor responsible for opening and closing the food outlet. All components were connected through the ESP’s GPIO pins and powered by a battery, allowing reliable and independent operation.</a:t>
            </a:r>
          </a:p>
          <a:p>
            <a:endParaRPr lang="en-US" sz="2800" dirty="0"/>
          </a:p>
          <a:p>
            <a:endParaRPr lang="en-US" sz="2800" dirty="0"/>
          </a:p>
          <a:p>
            <a:pPr marL="457200" indent="-457200">
              <a:buFont typeface="Arial" panose="020B0604020202020204" pitchFamily="34" charset="0"/>
              <a:buChar char="•"/>
            </a:pPr>
            <a:r>
              <a:rPr lang="en-US" sz="2800" dirty="0"/>
              <a:t>A web interface was also created using HTML, CSS, and JavaScript to monitor the system and manage feeding schedules. </a:t>
            </a:r>
            <a:r>
              <a:rPr lang="en-US" sz="2800" dirty="0" err="1"/>
              <a:t>Supabase</a:t>
            </a:r>
            <a:r>
              <a:rPr lang="en-US" sz="2800" dirty="0"/>
              <a:t> was used as the cloud backend to store feeding data and system logs, enabling real-time updates and remote control. The integration of hardware and software resulted in a modern, user-friendly smart feeding system.</a:t>
            </a:r>
          </a:p>
          <a:p>
            <a:pPr eaLnBrk="1" hangingPunct="1"/>
            <a:endParaRPr lang="en-US" altLang="en-US" sz="2800" b="1" dirty="0"/>
          </a:p>
        </p:txBody>
      </p:sp>
      <p:pic>
        <p:nvPicPr>
          <p:cNvPr id="11" name="Picture 10">
            <a:extLst>
              <a:ext uri="{FF2B5EF4-FFF2-40B4-BE49-F238E27FC236}">
                <a16:creationId xmlns:a16="http://schemas.microsoft.com/office/drawing/2014/main" id="{3A4D2204-D844-4A38-B183-3A02763A9B96}"/>
              </a:ext>
            </a:extLst>
          </p:cNvPr>
          <p:cNvPicPr>
            <a:picLocks noChangeAspect="1"/>
          </p:cNvPicPr>
          <p:nvPr/>
        </p:nvPicPr>
        <p:blipFill>
          <a:blip r:embed="rId4"/>
          <a:stretch>
            <a:fillRect/>
          </a:stretch>
        </p:blipFill>
        <p:spPr>
          <a:xfrm>
            <a:off x="-1403884" y="22018040"/>
            <a:ext cx="12871405" cy="9863894"/>
          </a:xfrm>
          <a:prstGeom prst="rect">
            <a:avLst/>
          </a:prstGeom>
        </p:spPr>
      </p:pic>
      <p:pic>
        <p:nvPicPr>
          <p:cNvPr id="13" name="Picture 12">
            <a:extLst>
              <a:ext uri="{FF2B5EF4-FFF2-40B4-BE49-F238E27FC236}">
                <a16:creationId xmlns:a16="http://schemas.microsoft.com/office/drawing/2014/main" id="{F9C8A7AB-2E3D-4375-B031-BBF784990F1C}"/>
              </a:ext>
            </a:extLst>
          </p:cNvPr>
          <p:cNvPicPr>
            <a:picLocks noChangeAspect="1"/>
          </p:cNvPicPr>
          <p:nvPr/>
        </p:nvPicPr>
        <p:blipFill>
          <a:blip r:embed="rId5"/>
          <a:stretch>
            <a:fillRect/>
          </a:stretch>
        </p:blipFill>
        <p:spPr>
          <a:xfrm>
            <a:off x="20670432" y="18546516"/>
            <a:ext cx="2800350" cy="2819400"/>
          </a:xfrm>
          <a:prstGeom prst="rect">
            <a:avLst/>
          </a:prstGeom>
        </p:spPr>
      </p:pic>
      <p:pic>
        <p:nvPicPr>
          <p:cNvPr id="3" name="Picture 2">
            <a:extLst>
              <a:ext uri="{FF2B5EF4-FFF2-40B4-BE49-F238E27FC236}">
                <a16:creationId xmlns:a16="http://schemas.microsoft.com/office/drawing/2014/main" id="{7C5605A2-B99C-405C-8C9A-FA01F7BEE87B}"/>
              </a:ext>
            </a:extLst>
          </p:cNvPr>
          <p:cNvPicPr>
            <a:picLocks noChangeAspect="1"/>
          </p:cNvPicPr>
          <p:nvPr/>
        </p:nvPicPr>
        <p:blipFill>
          <a:blip r:embed="rId6"/>
          <a:stretch>
            <a:fillRect/>
          </a:stretch>
        </p:blipFill>
        <p:spPr>
          <a:xfrm>
            <a:off x="19515710" y="22384997"/>
            <a:ext cx="5323012" cy="3430474"/>
          </a:xfrm>
          <a:prstGeom prst="rect">
            <a:avLst/>
          </a:prstGeom>
        </p:spPr>
      </p:pic>
      <p:pic>
        <p:nvPicPr>
          <p:cNvPr id="5" name="Picture 4">
            <a:extLst>
              <a:ext uri="{FF2B5EF4-FFF2-40B4-BE49-F238E27FC236}">
                <a16:creationId xmlns:a16="http://schemas.microsoft.com/office/drawing/2014/main" id="{53D025DF-638A-4DB0-9A5A-537A8F10B67A}"/>
              </a:ext>
            </a:extLst>
          </p:cNvPr>
          <p:cNvPicPr>
            <a:picLocks noChangeAspect="1"/>
          </p:cNvPicPr>
          <p:nvPr/>
        </p:nvPicPr>
        <p:blipFill>
          <a:blip r:embed="rId7"/>
          <a:stretch>
            <a:fillRect/>
          </a:stretch>
        </p:blipFill>
        <p:spPr>
          <a:xfrm>
            <a:off x="24836756" y="18510309"/>
            <a:ext cx="7731241" cy="3874688"/>
          </a:xfrm>
          <a:prstGeom prst="rect">
            <a:avLst/>
          </a:prstGeom>
        </p:spPr>
      </p:pic>
      <p:sp>
        <p:nvSpPr>
          <p:cNvPr id="29" name="Text Box 131">
            <a:extLst>
              <a:ext uri="{FF2B5EF4-FFF2-40B4-BE49-F238E27FC236}">
                <a16:creationId xmlns:a16="http://schemas.microsoft.com/office/drawing/2014/main" id="{AFF6D2D9-28EC-41B6-B4D2-81BDE6A5F5BF}"/>
              </a:ext>
            </a:extLst>
          </p:cNvPr>
          <p:cNvSpPr txBox="1">
            <a:spLocks noChangeArrowheads="1"/>
          </p:cNvSpPr>
          <p:nvPr/>
        </p:nvSpPr>
        <p:spPr bwMode="auto">
          <a:xfrm>
            <a:off x="25143387" y="22483197"/>
            <a:ext cx="69082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tr-TR"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Figure 3. ESP32 AND SERVO MOTOR CIRCUIT </a:t>
            </a:r>
          </a:p>
        </p:txBody>
      </p:sp>
      <p:pic>
        <p:nvPicPr>
          <p:cNvPr id="7" name="Picture 6">
            <a:extLst>
              <a:ext uri="{FF2B5EF4-FFF2-40B4-BE49-F238E27FC236}">
                <a16:creationId xmlns:a16="http://schemas.microsoft.com/office/drawing/2014/main" id="{DD779B16-2F48-43F5-AB32-C25152272CBF}"/>
              </a:ext>
            </a:extLst>
          </p:cNvPr>
          <p:cNvPicPr>
            <a:picLocks noChangeAspect="1"/>
          </p:cNvPicPr>
          <p:nvPr/>
        </p:nvPicPr>
        <p:blipFill>
          <a:blip r:embed="rId8"/>
          <a:stretch>
            <a:fillRect/>
          </a:stretch>
        </p:blipFill>
        <p:spPr>
          <a:xfrm>
            <a:off x="25035275" y="23066353"/>
            <a:ext cx="3562230" cy="2102814"/>
          </a:xfrm>
          <a:prstGeom prst="rect">
            <a:avLst/>
          </a:prstGeom>
        </p:spPr>
      </p:pic>
      <p:pic>
        <p:nvPicPr>
          <p:cNvPr id="9" name="Picture 8">
            <a:extLst>
              <a:ext uri="{FF2B5EF4-FFF2-40B4-BE49-F238E27FC236}">
                <a16:creationId xmlns:a16="http://schemas.microsoft.com/office/drawing/2014/main" id="{54EA8478-08D2-4D1C-99FA-8C906EE13B21}"/>
              </a:ext>
            </a:extLst>
          </p:cNvPr>
          <p:cNvPicPr>
            <a:picLocks noChangeAspect="1"/>
          </p:cNvPicPr>
          <p:nvPr/>
        </p:nvPicPr>
        <p:blipFill>
          <a:blip r:embed="rId9"/>
          <a:stretch>
            <a:fillRect/>
          </a:stretch>
        </p:blipFill>
        <p:spPr>
          <a:xfrm>
            <a:off x="28655647" y="23043063"/>
            <a:ext cx="4034154" cy="2150724"/>
          </a:xfrm>
          <a:prstGeom prst="rect">
            <a:avLst/>
          </a:prstGeom>
        </p:spPr>
      </p:pic>
      <p:pic>
        <p:nvPicPr>
          <p:cNvPr id="12" name="Picture 11">
            <a:extLst>
              <a:ext uri="{FF2B5EF4-FFF2-40B4-BE49-F238E27FC236}">
                <a16:creationId xmlns:a16="http://schemas.microsoft.com/office/drawing/2014/main" id="{1181D1D1-7B6C-4F27-9C14-B6822B8C21A2}"/>
              </a:ext>
            </a:extLst>
          </p:cNvPr>
          <p:cNvPicPr>
            <a:picLocks noChangeAspect="1"/>
          </p:cNvPicPr>
          <p:nvPr/>
        </p:nvPicPr>
        <p:blipFill>
          <a:blip r:embed="rId10"/>
          <a:stretch>
            <a:fillRect/>
          </a:stretch>
        </p:blipFill>
        <p:spPr>
          <a:xfrm>
            <a:off x="25035275" y="25193787"/>
            <a:ext cx="3562230" cy="2576923"/>
          </a:xfrm>
          <a:prstGeom prst="rect">
            <a:avLst/>
          </a:prstGeom>
        </p:spPr>
      </p:pic>
      <p:pic>
        <p:nvPicPr>
          <p:cNvPr id="15" name="Picture 14">
            <a:extLst>
              <a:ext uri="{FF2B5EF4-FFF2-40B4-BE49-F238E27FC236}">
                <a16:creationId xmlns:a16="http://schemas.microsoft.com/office/drawing/2014/main" id="{18D3D6D9-9072-4B7A-8DEB-AC37DFC89F2F}"/>
              </a:ext>
            </a:extLst>
          </p:cNvPr>
          <p:cNvPicPr>
            <a:picLocks noChangeAspect="1"/>
          </p:cNvPicPr>
          <p:nvPr/>
        </p:nvPicPr>
        <p:blipFill>
          <a:blip r:embed="rId11"/>
          <a:stretch>
            <a:fillRect/>
          </a:stretch>
        </p:blipFill>
        <p:spPr>
          <a:xfrm>
            <a:off x="28655646" y="25217252"/>
            <a:ext cx="4034154" cy="2576923"/>
          </a:xfrm>
          <a:prstGeom prst="rect">
            <a:avLst/>
          </a:prstGeom>
        </p:spPr>
      </p:pic>
      <p:pic>
        <p:nvPicPr>
          <p:cNvPr id="17" name="Picture 16">
            <a:extLst>
              <a:ext uri="{FF2B5EF4-FFF2-40B4-BE49-F238E27FC236}">
                <a16:creationId xmlns:a16="http://schemas.microsoft.com/office/drawing/2014/main" id="{8B072168-7CA0-43F1-A451-04CAACF3DC30}"/>
              </a:ext>
            </a:extLst>
          </p:cNvPr>
          <p:cNvPicPr>
            <a:picLocks noChangeAspect="1"/>
          </p:cNvPicPr>
          <p:nvPr/>
        </p:nvPicPr>
        <p:blipFill>
          <a:blip r:embed="rId12"/>
          <a:stretch>
            <a:fillRect/>
          </a:stretch>
        </p:blipFill>
        <p:spPr>
          <a:xfrm>
            <a:off x="25021874" y="27819951"/>
            <a:ext cx="3562230" cy="2858490"/>
          </a:xfrm>
          <a:prstGeom prst="rect">
            <a:avLst/>
          </a:prstGeom>
        </p:spPr>
      </p:pic>
      <p:pic>
        <p:nvPicPr>
          <p:cNvPr id="19" name="Picture 18">
            <a:extLst>
              <a:ext uri="{FF2B5EF4-FFF2-40B4-BE49-F238E27FC236}">
                <a16:creationId xmlns:a16="http://schemas.microsoft.com/office/drawing/2014/main" id="{368A2279-2FCC-4847-8C94-650721DCD069}"/>
              </a:ext>
            </a:extLst>
          </p:cNvPr>
          <p:cNvPicPr>
            <a:picLocks noChangeAspect="1"/>
          </p:cNvPicPr>
          <p:nvPr/>
        </p:nvPicPr>
        <p:blipFill>
          <a:blip r:embed="rId13"/>
          <a:stretch>
            <a:fillRect/>
          </a:stretch>
        </p:blipFill>
        <p:spPr>
          <a:xfrm>
            <a:off x="28655646" y="27830340"/>
            <a:ext cx="4034155" cy="2870518"/>
          </a:xfrm>
          <a:prstGeom prst="rect">
            <a:avLst/>
          </a:prstGeom>
        </p:spPr>
      </p:pic>
      <p:sp>
        <p:nvSpPr>
          <p:cNvPr id="42" name="Text Box 131">
            <a:extLst>
              <a:ext uri="{FF2B5EF4-FFF2-40B4-BE49-F238E27FC236}">
                <a16:creationId xmlns:a16="http://schemas.microsoft.com/office/drawing/2014/main" id="{62118542-9093-4A34-A173-C9C4C9CAC67E}"/>
              </a:ext>
            </a:extLst>
          </p:cNvPr>
          <p:cNvSpPr txBox="1">
            <a:spLocks noChangeArrowheads="1"/>
          </p:cNvSpPr>
          <p:nvPr/>
        </p:nvSpPr>
        <p:spPr bwMode="auto">
          <a:xfrm>
            <a:off x="24828180" y="30799052"/>
            <a:ext cx="82718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tr-TR"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Figure 3. ESP 32CODE USING ARDUINO IDE SOFTWARE</a:t>
            </a:r>
          </a:p>
        </p:txBody>
      </p:sp>
      <p:pic>
        <p:nvPicPr>
          <p:cNvPr id="4" name="Picture 3">
            <a:extLst>
              <a:ext uri="{FF2B5EF4-FFF2-40B4-BE49-F238E27FC236}">
                <a16:creationId xmlns:a16="http://schemas.microsoft.com/office/drawing/2014/main" id="{10DB487D-48F2-4D0D-80D2-AC0B7F688A08}"/>
              </a:ext>
            </a:extLst>
          </p:cNvPr>
          <p:cNvPicPr>
            <a:picLocks noChangeAspect="1"/>
          </p:cNvPicPr>
          <p:nvPr/>
        </p:nvPicPr>
        <p:blipFill>
          <a:blip r:embed="rId14"/>
          <a:stretch>
            <a:fillRect/>
          </a:stretch>
        </p:blipFill>
        <p:spPr>
          <a:xfrm>
            <a:off x="19701540" y="26734292"/>
            <a:ext cx="4456641" cy="5255364"/>
          </a:xfrm>
          <a:prstGeom prst="rect">
            <a:avLst/>
          </a:prstGeom>
        </p:spPr>
      </p:pic>
      <p:sp>
        <p:nvSpPr>
          <p:cNvPr id="35" name="Text Box 131">
            <a:extLst>
              <a:ext uri="{FF2B5EF4-FFF2-40B4-BE49-F238E27FC236}">
                <a16:creationId xmlns:a16="http://schemas.microsoft.com/office/drawing/2014/main" id="{5067D9D2-9340-48E3-BF03-A8160CE3E3B9}"/>
              </a:ext>
            </a:extLst>
          </p:cNvPr>
          <p:cNvSpPr txBox="1">
            <a:spLocks noChangeArrowheads="1"/>
          </p:cNvSpPr>
          <p:nvPr/>
        </p:nvSpPr>
        <p:spPr bwMode="auto">
          <a:xfrm>
            <a:off x="19771417" y="32080200"/>
            <a:ext cx="44299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389438">
              <a:defRPr sz="3200">
                <a:solidFill>
                  <a:schemeClr val="tx1"/>
                </a:solidFill>
                <a:latin typeface="Arial" panose="020B0604020202020204" pitchFamily="34" charset="0"/>
                <a:ea typeface="ＭＳ Ｐゴシック" panose="020B0600070205080204" pitchFamily="34" charset="-128"/>
              </a:defRPr>
            </a:lvl1pPr>
            <a:lvl2pPr marL="742950" indent="-285750" defTabSz="4389438">
              <a:defRPr sz="3200">
                <a:solidFill>
                  <a:schemeClr val="tx1"/>
                </a:solidFill>
                <a:latin typeface="Arial" panose="020B0604020202020204" pitchFamily="34" charset="0"/>
                <a:ea typeface="ＭＳ Ｐゴシック" panose="020B0600070205080204" pitchFamily="34" charset="-128"/>
              </a:defRPr>
            </a:lvl2pPr>
            <a:lvl3pPr marL="1143000" indent="-228600" defTabSz="4389438">
              <a:defRPr sz="3200">
                <a:solidFill>
                  <a:schemeClr val="tx1"/>
                </a:solidFill>
                <a:latin typeface="Arial" panose="020B0604020202020204" pitchFamily="34" charset="0"/>
                <a:ea typeface="ＭＳ Ｐゴシック" panose="020B0600070205080204" pitchFamily="34" charset="-128"/>
              </a:defRPr>
            </a:lvl3pPr>
            <a:lvl4pPr marL="1600200" indent="-228600" defTabSz="4389438">
              <a:defRPr sz="3200">
                <a:solidFill>
                  <a:schemeClr val="tx1"/>
                </a:solidFill>
                <a:latin typeface="Arial" panose="020B0604020202020204" pitchFamily="34" charset="0"/>
                <a:ea typeface="ＭＳ Ｐゴシック" panose="020B0600070205080204" pitchFamily="34" charset="-128"/>
              </a:defRPr>
            </a:lvl4pPr>
            <a:lvl5pPr marL="2057400" indent="-228600" defTabSz="4389438">
              <a:defRPr sz="32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tr-TR"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Figure4.  The final Product </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2660</TotalTime>
  <Words>849</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Impact</vt:lpstr>
      <vt:lpstr>Times New Roman</vt:lpstr>
      <vt:lpstr>Default Design</vt:lpstr>
      <vt:lpstr>PowerPoint Presentation</vt:lpstr>
    </vt:vector>
  </TitlesOfParts>
  <Company>Genigraphics 800.790.4001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poster 36 x 48 - D</dc:title>
  <dc:creator>Genigraphics 800.790.4001</dc:creator>
  <dc:description>To order poster prints visit us at www.genigraphics.com</dc:description>
  <cp:lastModifiedBy>Hanae</cp:lastModifiedBy>
  <cp:revision>54</cp:revision>
  <dcterms:created xsi:type="dcterms:W3CDTF">2008-05-03T03:01:56Z</dcterms:created>
  <dcterms:modified xsi:type="dcterms:W3CDTF">2025-12-18T16:49:47Z</dcterms:modified>
</cp:coreProperties>
</file>